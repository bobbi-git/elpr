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28178B49.xml" ContentType="application/vnd.ms-powerpoint.comments+xml"/>
  <Override PartName="/ppt/comments/modernComment_101_50DB82CD.xml" ContentType="application/vnd.ms-powerpoint.comments+xml"/>
  <Override PartName="/ppt/comments/modernComment_103_CA8B3B2B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8DFBCB-2758-47AE-8C42-758AD7315DA8}" name="Bobbi Jacqueline Estabrook" initials="BE" userId="S::bje37@cornell.edu::808028ae-5605-42ce-8732-38d8d5d373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modernComment_100_28178B4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62E2C7-194F-473E-A75C-396C253D3DAF}" authorId="{708DFBCB-2758-47AE-8C42-758AD7315DA8}" created="2024-11-19T21:08:17.80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72631625" sldId="256"/>
      <ac:spMk id="10" creationId="{37414297-5D84-A716-9F1C-C12C676F2AE3}"/>
      <ac:txMk cp="56" len="12">
        <ac:context len="472" hash="2336337709"/>
      </ac:txMk>
    </ac:txMkLst>
    <p188:pos x="1734237" y="1295164"/>
    <p188:txBody>
      <a:bodyPr/>
      <a:lstStyle/>
      <a:p>
        <a:r>
          <a:rPr lang="en-US"/>
          <a:t>Check that this is true</a:t>
        </a:r>
      </a:p>
    </p188:txBody>
  </p188:cm>
  <p188:cm id="{4936D434-1F01-467A-BD59-97369677C9C3}" authorId="{708DFBCB-2758-47AE-8C42-758AD7315DA8}" created="2024-11-19T21:10:18.89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72631625" sldId="256"/>
      <ac:spMk id="10" creationId="{37414297-5D84-A716-9F1C-C12C676F2AE3}"/>
      <ac:txMk cp="243" len="29">
        <ac:context len="472" hash="2336337709"/>
      </ac:txMk>
    </ac:txMkLst>
    <p188:pos x="2582222" y="2821942"/>
    <p188:txBody>
      <a:bodyPr/>
      <a:lstStyle/>
      <a:p>
        <a:r>
          <a:rPr lang="en-US"/>
          <a:t>Should we include empty tables?</a:t>
        </a:r>
      </a:p>
    </p188:txBody>
  </p188:cm>
  <p188:cm id="{D73A4DD1-F29F-4C4E-BE32-5B671A921F41}" authorId="{708DFBCB-2758-47AE-8C42-758AD7315DA8}" created="2024-11-19T21:12:10.4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72631625" sldId="256"/>
      <ac:spMk id="4" creationId="{837E2127-8161-B6B6-79BD-C95EFAF91C79}"/>
      <ac:txMk cp="0" len="11">
        <ac:context len="72" hash="2068770040"/>
      </ac:txMk>
    </ac:txMkLst>
    <p188:pos x="1551905" y="347730"/>
    <p188:txBody>
      <a:bodyPr/>
      <a:lstStyle/>
      <a:p>
        <a:r>
          <a:rPr lang="en-US"/>
          <a:t>Allow user to state if they have a sound check file or not</a:t>
        </a:r>
      </a:p>
    </p188:txBody>
  </p188:cm>
  <p188:cm id="{5FB31BF3-3152-44A8-8863-FDB313FD967E}" authorId="{708DFBCB-2758-47AE-8C42-758AD7315DA8}" created="2024-11-19T21:54:05.08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72631625" sldId="256"/>
      <ac:spMk id="10" creationId="{37414297-5D84-A716-9F1C-C12C676F2AE3}"/>
      <ac:txMk cp="17" len="16">
        <ac:context len="472" hash="2336337709"/>
      </ac:txMk>
    </ac:txMkLst>
    <p188:pos x="2492070" y="769467"/>
    <p188:txBody>
      <a:bodyPr/>
      <a:lstStyle/>
      <a:p>
        <a:r>
          <a:rPr lang="en-US"/>
          <a:t>Could get it from the site .txt file, but I wanted to remove dependency on the elpR package to allow users to just merge and summarize data.</a:t>
        </a:r>
      </a:p>
    </p188:txBody>
  </p188:cm>
  <p188:cm id="{AFE210BB-20C7-44CA-9D08-F43807E65C43}" authorId="{708DFBCB-2758-47AE-8C42-758AD7315DA8}" created="2024-11-19T22:44:38.22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72631625" sldId="256"/>
      <ac:spMk id="14" creationId="{81DE56B4-B202-C59F-6736-0ACAC60CF267}"/>
      <ac:txMk cp="0" len="5">
        <ac:context len="196" hash="3391349129"/>
      </ac:txMk>
    </ac:txMkLst>
    <p188:txBody>
      <a:bodyPr/>
      <a:lstStyle/>
      <a:p>
        <a:r>
          <a:rPr lang="en-US"/>
          <a:t>Need to add plot</a:t>
        </a:r>
      </a:p>
    </p188:txBody>
  </p188:cm>
  <p188:cm id="{56772002-8025-4014-A6AA-EC9E32C50557}" authorId="{708DFBCB-2758-47AE-8C42-758AD7315DA8}" created="2024-11-19T22:44:46.2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72631625" sldId="256"/>
      <ac:spMk id="16" creationId="{952E897D-F03A-831F-BD62-4948A4415302}"/>
      <ac:txMk cp="0" len="6">
        <ac:context len="165" hash="2102804857"/>
      </ac:txMk>
    </ac:txMkLst>
    <p188:txBody>
      <a:bodyPr/>
      <a:lstStyle/>
      <a:p>
        <a:r>
          <a:rPr lang="en-US"/>
          <a:t>Need to add plot</a:t>
        </a:r>
      </a:p>
    </p188:txBody>
  </p188:cm>
</p188:cmLst>
</file>

<file path=ppt/comments/modernComment_101_50DB82C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BA6B79-FFB9-4396-A2A6-71B409BCD609}" authorId="{708DFBCB-2758-47AE-8C42-758AD7315DA8}" created="2024-11-20T18:19:16.99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56563149" sldId="257"/>
      <ac:spMk id="6" creationId="{C7CE611E-1F21-C34E-2398-91DDFEF3DCB4}"/>
      <ac:txMk cp="0" len="5">
        <ac:context len="233" hash="2066071538"/>
      </ac:txMk>
    </ac:txMkLst>
    <p188:pos x="2606661" y="413612"/>
    <p188:txBody>
      <a:bodyPr/>
      <a:lstStyle/>
      <a:p>
        <a:r>
          <a:rPr lang="en-US"/>
          <a:t>Deployment number excluded because if it’s not in the files, then the  summaries per day will not make sense (nas and dep# will occur for the same date).</a:t>
        </a:r>
      </a:p>
    </p188:txBody>
  </p188:cm>
</p188:cmLst>
</file>

<file path=ppt/comments/modernComment_103_CA8B3B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E24AA9-232E-4257-916F-5CDC2E429621}" authorId="{708DFBCB-2758-47AE-8C42-758AD7315DA8}" created="2024-11-19T21:08:17.80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98122283" sldId="259"/>
      <ac:spMk id="10" creationId="{8E167623-B742-1360-C746-391F1E163FAE}"/>
      <ac:txMk cp="56" len="12">
        <ac:context len="472" hash="2336337709"/>
      </ac:txMk>
    </ac:txMkLst>
    <p188:pos x="1734237" y="1295164"/>
    <p188:txBody>
      <a:bodyPr/>
      <a:lstStyle/>
      <a:p>
        <a:r>
          <a:rPr lang="en-US"/>
          <a:t>Check that this is true</a:t>
        </a:r>
      </a:p>
    </p188:txBody>
  </p188:cm>
  <p188:cm id="{BA2CDF7F-8EBB-4446-A3F9-929E0CFB5E62}" authorId="{708DFBCB-2758-47AE-8C42-758AD7315DA8}" created="2024-11-19T21:10:18.89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98122283" sldId="259"/>
      <ac:spMk id="10" creationId="{8E167623-B742-1360-C746-391F1E163FAE}"/>
      <ac:txMk cp="243" len="29">
        <ac:context len="472" hash="2336337709"/>
      </ac:txMk>
    </ac:txMkLst>
    <p188:pos x="2582222" y="2821942"/>
    <p188:txBody>
      <a:bodyPr/>
      <a:lstStyle/>
      <a:p>
        <a:r>
          <a:rPr lang="en-US"/>
          <a:t>Should we include empty tables?</a:t>
        </a:r>
      </a:p>
    </p188:txBody>
  </p188:cm>
  <p188:cm id="{DF8D9EE4-2764-495F-8F6A-243F27CCB13A}" authorId="{708DFBCB-2758-47AE-8C42-758AD7315DA8}" created="2024-11-19T21:12:10.4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98122283" sldId="259"/>
      <ac:spMk id="4" creationId="{AAC4B278-52EE-4CBF-FF13-20E7BC9CC77C}"/>
      <ac:txMk cp="0" len="11">
        <ac:context len="72" hash="2068770040"/>
      </ac:txMk>
    </ac:txMkLst>
    <p188:pos x="1551905" y="347730"/>
    <p188:txBody>
      <a:bodyPr/>
      <a:lstStyle/>
      <a:p>
        <a:r>
          <a:rPr lang="en-US"/>
          <a:t>Allow user to state if they have a sound check file or not</a:t>
        </a:r>
      </a:p>
    </p188:txBody>
  </p188:cm>
  <p188:cm id="{9B7F3CC1-E66B-4686-8860-0710FB3CBA32}" authorId="{708DFBCB-2758-47AE-8C42-758AD7315DA8}" created="2024-11-19T21:54:05.08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98122283" sldId="259"/>
      <ac:spMk id="10" creationId="{8E167623-B742-1360-C746-391F1E163FAE}"/>
      <ac:txMk cp="17" len="16">
        <ac:context len="472" hash="2336337709"/>
      </ac:txMk>
    </ac:txMkLst>
    <p188:pos x="2492070" y="769467"/>
    <p188:txBody>
      <a:bodyPr/>
      <a:lstStyle/>
      <a:p>
        <a:r>
          <a:rPr lang="en-US"/>
          <a:t>Could get it from the site .txt file, but I wanted to remove dependency on the elpR package to allow users to just merge and summarize data.</a:t>
        </a:r>
      </a:p>
    </p188:txBody>
  </p188:cm>
  <p188:cm id="{335B6B8F-73C1-42B0-9AF2-A1D00BCC9247}" authorId="{708DFBCB-2758-47AE-8C42-758AD7315DA8}" created="2024-11-19T22:44:38.22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98122283" sldId="259"/>
      <ac:spMk id="14" creationId="{063B8042-1FCD-CA40-E112-DB2B3E6D21EB}"/>
      <ac:txMk cp="0" len="5">
        <ac:context len="196" hash="3391349129"/>
      </ac:txMk>
    </ac:txMkLst>
    <p188:pos x="1712893" y="352539"/>
    <p188:txBody>
      <a:bodyPr/>
      <a:lstStyle/>
      <a:p>
        <a:r>
          <a:rPr lang="en-US"/>
          <a:t>Need to add plot</a:t>
        </a:r>
      </a:p>
    </p188:txBody>
  </p188:cm>
  <p188:cm id="{F0D5077D-5B7A-4D90-8C59-9040FD59A130}" authorId="{708DFBCB-2758-47AE-8C42-758AD7315DA8}" created="2024-11-19T22:44:46.2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98122283" sldId="259"/>
      <ac:spMk id="16" creationId="{333CCE01-833D-AC8C-9ABB-6BE07501FCFA}"/>
      <ac:txMk cp="0" len="1">
        <ac:context len="165" hash="2927570137"/>
      </ac:txMk>
    </ac:txMkLst>
    <p188:pos x="1777287" y="354059"/>
    <p188:txBody>
      <a:bodyPr/>
      <a:lstStyle/>
      <a:p>
        <a:r>
          <a:rPr lang="en-US"/>
          <a:t>Need to add plot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D18B-C1A3-7D2B-5BBE-3947C12DF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F49A3-9BDA-01B7-9C90-71343C30B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D4378-DE55-B9F7-D783-0C553184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17B6E-3B78-9C7E-1CF9-04C830260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6278E-0182-767F-49D8-616871EF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5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39B4-E966-625D-95FB-9A4E8DC9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14468-E583-5FCF-E7B7-D73417C7C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3C4F4-B690-2F20-F25C-F44AA462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DD9DC-6E49-EE21-0F3B-94E3AA7F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E85A5-0E1F-19DA-5106-67AEA878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0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74C6-D329-DB47-5306-E881883FE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41C6A-CE1D-12EE-A734-9A6F32AB8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11AD4-2FB1-4520-C699-7FC14B61C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F1309-F195-9014-24FA-309F1CA4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429FC-705A-D097-B202-44FDCF95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6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07A1F-5898-9C8E-4001-2560316A4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2F467-63A3-2301-702E-84CF608B8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1F72E-2FC9-4B30-31D4-9840DAF8F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0A9E8-9339-7DE3-09DB-F275B684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59101-62F5-D400-4023-0519CB37F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86AF4-9723-95FC-14D9-22726051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98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AFE5-787D-EE8D-AA2C-B682AFA8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7243C-8ED1-1595-0089-7CAEDB114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72B66-3D80-2BF9-FC03-FFF3213C4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938E8-38D2-F693-3969-CF981C858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57B75-987B-1A97-9DE9-251AC94DB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88ABE-31F9-F572-19E5-A39EB2EF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94B32C-1A06-B79D-35A7-6D80F7687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8D61B-86A9-16A5-A5A9-1E01B7F8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46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FA0D5-C847-2D73-A716-4DCBF02A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DCAEE5-27A0-7103-3D6D-51F9573B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9A99D-2F8A-D4ED-AC4E-83A0F3A9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43D62-06A7-FF0E-65E3-B8CF41BC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F5568-61FF-9824-7AB0-592765C4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F1BC1-3019-1F61-E2BB-76F257ED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D46AF-39E7-5989-D1ED-83586F8A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3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9CA4-F1B1-B8C2-E5A4-6311BEF75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8F5F6-8DF5-23E1-1908-7FF0ED0B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64284-F76E-9736-2D51-D182D0E70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C5F03-DC5F-6496-11D5-FAD7CF4AB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BC6B7-5CC8-EFF2-01F7-75E48199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68A2B-F046-2693-19B6-1105A83B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5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8152-9C84-9E89-EE44-2E2DE0C4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0C2EB6-6337-926B-C7D6-507562494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7B62D-A722-9A29-AC6F-F12EAF0B8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77A8B-8EDF-0FB3-F721-90B6245A4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624FC-D438-0504-3263-B70AEA3E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A4454-13BF-FB0B-3CD6-2F4DB6D3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3003-B759-3872-C10C-728CA036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9767C-BE86-1F85-A17B-8992EDB6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0C7EC-B0C9-E17E-C0C1-246689C35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35FA8-EF4B-AA19-E296-3838F97B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9C41B-AE3C-D541-A2DE-A5F824F2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5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E9949A-8809-E9D3-37D8-0A9ECBFBA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A1C74-AD1A-5FDC-2B73-11BA4437A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4FF80-1C9C-9E03-2C5F-E3FFEC73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4F58A-FCEC-4B5C-3633-4FEC6BC7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9616E-81CF-52EE-1ACF-8D6910C2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5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0ACC5-4072-9B17-B432-5045D2C1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145E9-06EC-CF9C-7554-474959C9C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D83F3-9E3E-2E73-5782-8DBC1FD1B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ECC65-FB96-4954-B1AA-5FD4BDC586D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0D91A-B4F5-2A8E-2F78-45E5D23E15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572AD-D910-B8BC-9ADA-CDAC91207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468BE-277D-4811-A145-F6761D91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6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28178B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50DB82CD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CA8B3B2B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7E2127-8161-B6B6-79BD-C95EFAF91C79}"/>
              </a:ext>
            </a:extLst>
          </p:cNvPr>
          <p:cNvSpPr txBox="1"/>
          <p:nvPr/>
        </p:nvSpPr>
        <p:spPr>
          <a:xfrm>
            <a:off x="199621" y="208793"/>
            <a:ext cx="2363273" cy="9541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Sound Check (user option not implemented yet)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Excluded (y/n)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All sounds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AD5AC-C2E6-E364-02E4-8ABAE47DE253}"/>
              </a:ext>
            </a:extLst>
          </p:cNvPr>
          <p:cNvSpPr txBox="1"/>
          <p:nvPr/>
        </p:nvSpPr>
        <p:spPr>
          <a:xfrm>
            <a:off x="199621" y="1449564"/>
            <a:ext cx="2363273" cy="738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Random days (user option)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Random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Non-random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2229F-32CC-062E-3D5D-2E2375CD62CB}"/>
              </a:ext>
            </a:extLst>
          </p:cNvPr>
          <p:cNvSpPr txBox="1"/>
          <p:nvPr/>
        </p:nvSpPr>
        <p:spPr>
          <a:xfrm>
            <a:off x="154545" y="3573769"/>
            <a:ext cx="2408349" cy="13849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Selection tables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All detections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includes marginals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0+ counts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Non-rumbles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Deployment number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AA45C-8D18-1AD5-AC8F-301AB2F8F2E1}"/>
              </a:ext>
            </a:extLst>
          </p:cNvPr>
          <p:cNvSpPr txBox="1"/>
          <p:nvPr/>
        </p:nvSpPr>
        <p:spPr>
          <a:xfrm>
            <a:off x="154545" y="5171879"/>
            <a:ext cx="2408350" cy="13849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Zero Days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Good sound days only (bad sounds excluded)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Random days only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0 detections at score &gt;0.4.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12F505AF-F6DB-40E1-6D04-CC856BE063F2}"/>
              </a:ext>
            </a:extLst>
          </p:cNvPr>
          <p:cNvSpPr/>
          <p:nvPr/>
        </p:nvSpPr>
        <p:spPr>
          <a:xfrm>
            <a:off x="2693965" y="639838"/>
            <a:ext cx="412118" cy="54091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D893C-9053-D8F0-E3AE-AEC42E6E95F5}"/>
              </a:ext>
            </a:extLst>
          </p:cNvPr>
          <p:cNvSpPr txBox="1"/>
          <p:nvPr/>
        </p:nvSpPr>
        <p:spPr>
          <a:xfrm>
            <a:off x="154545" y="7074450"/>
            <a:ext cx="2408349" cy="738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Empty Tables</a:t>
            </a:r>
          </a:p>
          <a:p>
            <a:r>
              <a:rPr lang="en-US" sz="1400" dirty="0"/>
              <a:t>- Selection tables with 0 detections at score 0.2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14297-5D84-A716-9F1C-C12C676F2AE3}"/>
              </a:ext>
            </a:extLst>
          </p:cNvPr>
          <p:cNvSpPr txBox="1"/>
          <p:nvPr/>
        </p:nvSpPr>
        <p:spPr>
          <a:xfrm>
            <a:off x="3268146" y="582066"/>
            <a:ext cx="4320878" cy="59093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HOURLY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Site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from selection tables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Date 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every date from sound check and selection tables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Hour (0-24)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Rand/</a:t>
            </a:r>
            <a:r>
              <a:rPr lang="en-US" sz="1400" dirty="0" err="1"/>
              <a:t>nonrand</a:t>
            </a:r>
            <a:r>
              <a:rPr lang="en-US" sz="1400" dirty="0"/>
              <a:t> (optional)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From rand .txt file in </a:t>
            </a:r>
            <a:r>
              <a:rPr lang="en-US" sz="1400" dirty="0" err="1"/>
              <a:t>elpR</a:t>
            </a:r>
            <a:endParaRPr lang="en-US" sz="1400" dirty="0"/>
          </a:p>
          <a:p>
            <a:pPr marL="742950" lvl="1" indent="-285750">
              <a:buFontTx/>
              <a:buChar char="-"/>
            </a:pPr>
            <a:r>
              <a:rPr lang="en-US" sz="1400" dirty="0"/>
              <a:t>If rand needed, then non-random dates will be filtered out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Sum rumbles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Includes zero days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Does not include empty tables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Bad sound excluded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From sound check file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Deployment #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User defined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Site details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User option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From .txt file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Day/night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Day = 06:00-18:00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Night = 18:00-06:00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Week date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first date of the week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Save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3899A-5806-34CD-0D64-9EBCE675F71D}"/>
              </a:ext>
            </a:extLst>
          </p:cNvPr>
          <p:cNvSpPr txBox="1"/>
          <p:nvPr/>
        </p:nvSpPr>
        <p:spPr>
          <a:xfrm>
            <a:off x="199622" y="2474892"/>
            <a:ext cx="2363272" cy="9541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Site Details (user provided)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Lat/long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Habitat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Strata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FEEFF1-6005-FB4F-893A-9A13781AF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758" y="4790826"/>
            <a:ext cx="2675481" cy="18431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B99D8A-4D37-96C6-F2F7-0D92E3686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020" y="1998599"/>
            <a:ext cx="3990956" cy="27595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8509AB-1324-44B0-134F-CF2E09C1A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494" y="359915"/>
            <a:ext cx="2360008" cy="160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6316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BC92B3-7D9E-9E6F-0AB7-A26BC06C23AB}"/>
              </a:ext>
            </a:extLst>
          </p:cNvPr>
          <p:cNvSpPr txBox="1"/>
          <p:nvPr/>
        </p:nvSpPr>
        <p:spPr>
          <a:xfrm>
            <a:off x="157861" y="121911"/>
            <a:ext cx="5301733" cy="649408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HOURLY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Site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from selection tables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Date 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every date from sound check and selection tables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Hour (0-24)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Rand/</a:t>
            </a:r>
            <a:r>
              <a:rPr lang="en-US" sz="1600" dirty="0" err="1"/>
              <a:t>nonrand</a:t>
            </a:r>
            <a:r>
              <a:rPr lang="en-US" sz="1600" dirty="0"/>
              <a:t> (optional)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From rand .txt file in </a:t>
            </a:r>
            <a:r>
              <a:rPr lang="en-US" sz="1600" dirty="0" err="1"/>
              <a:t>elpR</a:t>
            </a:r>
            <a:endParaRPr lang="en-US" sz="1600" dirty="0"/>
          </a:p>
          <a:p>
            <a:pPr marL="742950" lvl="1" indent="-285750">
              <a:buFontTx/>
              <a:buChar char="-"/>
            </a:pPr>
            <a:r>
              <a:rPr lang="en-US" sz="1600" dirty="0"/>
              <a:t>If rand needed, then non-random dates will be filtered out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Sum rumbles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Includes zero days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Does not include empty tables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Bad sound excluded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From sound check file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Deployment #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User defined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Site details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User option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From .txt file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Day/night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Day = 06:00-18:00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Night = 18:00-06:00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Week date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first date of the week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Save table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985CD16-CB9B-C40B-1C2D-A672072791E5}"/>
              </a:ext>
            </a:extLst>
          </p:cNvPr>
          <p:cNvSpPr/>
          <p:nvPr/>
        </p:nvSpPr>
        <p:spPr>
          <a:xfrm>
            <a:off x="5506892" y="2159101"/>
            <a:ext cx="412118" cy="254124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CE611E-1F21-C34E-2398-91DDFEF3DCB4}"/>
              </a:ext>
            </a:extLst>
          </p:cNvPr>
          <p:cNvSpPr txBox="1"/>
          <p:nvPr/>
        </p:nvSpPr>
        <p:spPr>
          <a:xfrm>
            <a:off x="5985546" y="737271"/>
            <a:ext cx="4482757" cy="50783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DAILY</a:t>
            </a:r>
          </a:p>
          <a:p>
            <a:pPr marL="285750" indent="-285750">
              <a:buFontTx/>
              <a:buChar char="-"/>
            </a:pPr>
            <a:r>
              <a:rPr lang="en-US" dirty="0"/>
              <a:t>Site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Date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Proportion Night Rumbles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% rumbles per night</a:t>
            </a:r>
          </a:p>
          <a:p>
            <a:pPr marL="285750" indent="-285750">
              <a:buFontTx/>
              <a:buChar char="-"/>
            </a:pPr>
            <a:r>
              <a:rPr lang="en-US" dirty="0"/>
              <a:t>Sum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Sum night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Random days only</a:t>
            </a:r>
          </a:p>
          <a:p>
            <a:pPr marL="285750" indent="-285750">
              <a:buFontTx/>
              <a:buChar char="-"/>
            </a:pPr>
            <a:r>
              <a:rPr lang="en-US" dirty="0"/>
              <a:t>Site details</a:t>
            </a:r>
          </a:p>
          <a:p>
            <a:pPr marL="285750" indent="-285750">
              <a:buFontTx/>
              <a:buChar char="-"/>
            </a:pPr>
            <a:r>
              <a:rPr lang="en-US" dirty="0"/>
              <a:t>Week date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First date of the week</a:t>
            </a:r>
          </a:p>
          <a:p>
            <a:pPr marL="285750" indent="-285750">
              <a:buFontTx/>
              <a:buChar char="-"/>
            </a:pPr>
            <a:r>
              <a:rPr lang="en-US" dirty="0"/>
              <a:t>Month</a:t>
            </a:r>
          </a:p>
          <a:p>
            <a:pPr marL="285750" indent="-285750">
              <a:buFontTx/>
              <a:buChar char="-"/>
            </a:pPr>
            <a:r>
              <a:rPr lang="en-US" dirty="0"/>
              <a:t>Year</a:t>
            </a:r>
          </a:p>
          <a:p>
            <a:pPr marL="285750" indent="-285750">
              <a:buFontTx/>
              <a:buChar char="-"/>
            </a:pPr>
            <a:r>
              <a:rPr lang="en-US" dirty="0"/>
              <a:t>Week of year</a:t>
            </a:r>
          </a:p>
          <a:p>
            <a:pPr marL="285750" indent="-285750">
              <a:buFontTx/>
              <a:buChar char="-"/>
            </a:pPr>
            <a:r>
              <a:rPr lang="en-US" dirty="0"/>
              <a:t>Save table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Daily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By strata</a:t>
            </a:r>
          </a:p>
          <a:p>
            <a:pPr marL="285750" indent="-285750">
              <a:buFontTx/>
              <a:buChar char="-"/>
            </a:pPr>
            <a:r>
              <a:rPr lang="en-US" dirty="0"/>
              <a:t>Plot rumbles per day/strata</a:t>
            </a:r>
          </a:p>
        </p:txBody>
      </p:sp>
    </p:spTree>
    <p:extLst>
      <p:ext uri="{BB962C8B-B14F-4D97-AF65-F5344CB8AC3E}">
        <p14:creationId xmlns:p14="http://schemas.microsoft.com/office/powerpoint/2010/main" val="13565631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412C3F-5CC6-E911-DB1D-0D631CE68563}"/>
              </a:ext>
            </a:extLst>
          </p:cNvPr>
          <p:cNvSpPr txBox="1"/>
          <p:nvPr/>
        </p:nvSpPr>
        <p:spPr>
          <a:xfrm>
            <a:off x="262682" y="658451"/>
            <a:ext cx="2871991" cy="50783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DAILY</a:t>
            </a:r>
          </a:p>
          <a:p>
            <a:pPr marL="285750" indent="-285750">
              <a:buFontTx/>
              <a:buChar char="-"/>
            </a:pPr>
            <a:r>
              <a:rPr lang="en-US" dirty="0"/>
              <a:t>Site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Date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Proportion Night Rumbles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% rumbles per night</a:t>
            </a:r>
          </a:p>
          <a:p>
            <a:pPr marL="285750" indent="-285750">
              <a:buFontTx/>
              <a:buChar char="-"/>
            </a:pPr>
            <a:r>
              <a:rPr lang="en-US" dirty="0"/>
              <a:t>Sum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Sum night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Random days only</a:t>
            </a:r>
          </a:p>
          <a:p>
            <a:pPr marL="285750" indent="-285750">
              <a:buFontTx/>
              <a:buChar char="-"/>
            </a:pPr>
            <a:r>
              <a:rPr lang="en-US" dirty="0"/>
              <a:t>Deployment #</a:t>
            </a:r>
          </a:p>
          <a:p>
            <a:pPr marL="285750" indent="-285750">
              <a:buFontTx/>
              <a:buChar char="-"/>
            </a:pPr>
            <a:r>
              <a:rPr lang="en-US" dirty="0"/>
              <a:t>Site details</a:t>
            </a:r>
          </a:p>
          <a:p>
            <a:pPr marL="285750" indent="-285750">
              <a:buFontTx/>
              <a:buChar char="-"/>
            </a:pPr>
            <a:r>
              <a:rPr lang="en-US" dirty="0"/>
              <a:t>Week date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First date of the week</a:t>
            </a:r>
          </a:p>
          <a:p>
            <a:pPr marL="285750" indent="-285750">
              <a:buFontTx/>
              <a:buChar char="-"/>
            </a:pPr>
            <a:r>
              <a:rPr lang="en-US" dirty="0"/>
              <a:t>Month</a:t>
            </a:r>
          </a:p>
          <a:p>
            <a:pPr marL="285750" indent="-285750">
              <a:buFontTx/>
              <a:buChar char="-"/>
            </a:pPr>
            <a:r>
              <a:rPr lang="en-US" dirty="0"/>
              <a:t>Year</a:t>
            </a:r>
          </a:p>
          <a:p>
            <a:pPr marL="285750" indent="-285750">
              <a:buFontTx/>
              <a:buChar char="-"/>
            </a:pPr>
            <a:r>
              <a:rPr lang="en-US" dirty="0"/>
              <a:t>Save table &amp; plot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60CE137-6AA3-E355-C8FF-53278A403F4A}"/>
              </a:ext>
            </a:extLst>
          </p:cNvPr>
          <p:cNvSpPr/>
          <p:nvPr/>
        </p:nvSpPr>
        <p:spPr>
          <a:xfrm>
            <a:off x="3382445" y="2206653"/>
            <a:ext cx="272694" cy="196178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8420A-D329-F9B2-1263-D5749E445C2E}"/>
              </a:ext>
            </a:extLst>
          </p:cNvPr>
          <p:cNvSpPr txBox="1"/>
          <p:nvPr/>
        </p:nvSpPr>
        <p:spPr>
          <a:xfrm>
            <a:off x="3902911" y="950837"/>
            <a:ext cx="2871991" cy="39703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WEEKLY</a:t>
            </a:r>
          </a:p>
          <a:p>
            <a:pPr marL="285750" indent="-285750">
              <a:buFontTx/>
              <a:buChar char="-"/>
            </a:pPr>
            <a:r>
              <a:rPr lang="en-US" dirty="0"/>
              <a:t>Site</a:t>
            </a:r>
          </a:p>
          <a:p>
            <a:pPr marL="285750" indent="-285750">
              <a:buFontTx/>
              <a:buChar char="-"/>
            </a:pPr>
            <a:r>
              <a:rPr lang="en-US" dirty="0"/>
              <a:t>Week date</a:t>
            </a:r>
          </a:p>
          <a:p>
            <a:pPr marL="285750" indent="-285750">
              <a:buFontTx/>
              <a:buChar char="-"/>
            </a:pPr>
            <a:r>
              <a:rPr lang="en-US" dirty="0"/>
              <a:t>Month</a:t>
            </a:r>
          </a:p>
          <a:p>
            <a:pPr marL="285750" indent="-285750">
              <a:buFontTx/>
              <a:buChar char="-"/>
            </a:pPr>
            <a:r>
              <a:rPr lang="en-US" dirty="0"/>
              <a:t>Year</a:t>
            </a:r>
          </a:p>
          <a:p>
            <a:pPr marL="285750" indent="-285750">
              <a:buFontTx/>
              <a:buChar char="-"/>
            </a:pPr>
            <a:r>
              <a:rPr lang="en-US" dirty="0"/>
              <a:t>Site details</a:t>
            </a:r>
          </a:p>
          <a:p>
            <a:pPr marL="285750" indent="-285750">
              <a:buFontTx/>
              <a:buChar char="-"/>
            </a:pPr>
            <a:r>
              <a:rPr lang="en-US" dirty="0"/>
              <a:t>Mean daily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SD daily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Sum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Proportion night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Total days sampled per week</a:t>
            </a:r>
          </a:p>
          <a:p>
            <a:pPr marL="285750" indent="-285750">
              <a:buFontTx/>
              <a:buChar char="-"/>
            </a:pPr>
            <a:r>
              <a:rPr lang="en-US" dirty="0"/>
              <a:t>Save table &amp; plot</a:t>
            </a:r>
          </a:p>
        </p:txBody>
      </p:sp>
    </p:spTree>
    <p:extLst>
      <p:ext uri="{BB962C8B-B14F-4D97-AF65-F5344CB8AC3E}">
        <p14:creationId xmlns:p14="http://schemas.microsoft.com/office/powerpoint/2010/main" val="2487703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F678-12C9-048B-0211-33055302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Brace 4">
            <a:extLst>
              <a:ext uri="{FF2B5EF4-FFF2-40B4-BE49-F238E27FC236}">
                <a16:creationId xmlns:a16="http://schemas.microsoft.com/office/drawing/2014/main" id="{82681245-0D4C-BB3D-321D-2E4A9438D37A}"/>
              </a:ext>
            </a:extLst>
          </p:cNvPr>
          <p:cNvSpPr/>
          <p:nvPr/>
        </p:nvSpPr>
        <p:spPr>
          <a:xfrm>
            <a:off x="3382445" y="2206653"/>
            <a:ext cx="272694" cy="196178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4D9B6-7E4D-EF5F-163B-59209A818B6D}"/>
              </a:ext>
            </a:extLst>
          </p:cNvPr>
          <p:cNvSpPr txBox="1"/>
          <p:nvPr/>
        </p:nvSpPr>
        <p:spPr>
          <a:xfrm>
            <a:off x="271513" y="1202386"/>
            <a:ext cx="2871991" cy="39703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WEEKLY</a:t>
            </a:r>
          </a:p>
          <a:p>
            <a:pPr marL="285750" indent="-285750">
              <a:buFontTx/>
              <a:buChar char="-"/>
            </a:pPr>
            <a:r>
              <a:rPr lang="en-US" dirty="0"/>
              <a:t>Site</a:t>
            </a:r>
          </a:p>
          <a:p>
            <a:pPr marL="285750" indent="-285750">
              <a:buFontTx/>
              <a:buChar char="-"/>
            </a:pPr>
            <a:r>
              <a:rPr lang="en-US" dirty="0"/>
              <a:t>Week date</a:t>
            </a:r>
          </a:p>
          <a:p>
            <a:pPr marL="285750" indent="-285750">
              <a:buFontTx/>
              <a:buChar char="-"/>
            </a:pPr>
            <a:r>
              <a:rPr lang="en-US" dirty="0"/>
              <a:t>Month</a:t>
            </a:r>
          </a:p>
          <a:p>
            <a:pPr marL="285750" indent="-285750">
              <a:buFontTx/>
              <a:buChar char="-"/>
            </a:pPr>
            <a:r>
              <a:rPr lang="en-US" dirty="0"/>
              <a:t>Year</a:t>
            </a:r>
          </a:p>
          <a:p>
            <a:pPr marL="285750" indent="-285750">
              <a:buFontTx/>
              <a:buChar char="-"/>
            </a:pPr>
            <a:r>
              <a:rPr lang="en-US" dirty="0"/>
              <a:t>Site details</a:t>
            </a:r>
          </a:p>
          <a:p>
            <a:pPr marL="285750" indent="-285750">
              <a:buFontTx/>
              <a:buChar char="-"/>
            </a:pPr>
            <a:r>
              <a:rPr lang="en-US" dirty="0"/>
              <a:t>Mean daily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SD daily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Sum rumbles per week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Proportion night rumbles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Total days sampled per week</a:t>
            </a:r>
          </a:p>
          <a:p>
            <a:pPr marL="285750" indent="-285750">
              <a:buFontTx/>
              <a:buChar char="-"/>
            </a:pPr>
            <a:r>
              <a:rPr lang="en-US" dirty="0"/>
              <a:t>Save table &amp; plot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393076-A345-8AA4-C473-39A501047677}"/>
              </a:ext>
            </a:extLst>
          </p:cNvPr>
          <p:cNvSpPr txBox="1"/>
          <p:nvPr/>
        </p:nvSpPr>
        <p:spPr>
          <a:xfrm>
            <a:off x="3988676" y="1202386"/>
            <a:ext cx="2853559" cy="397031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MONTHLY</a:t>
            </a:r>
          </a:p>
          <a:p>
            <a:pPr marL="285750" indent="-285750">
              <a:buFontTx/>
              <a:buChar char="-"/>
            </a:pPr>
            <a:r>
              <a:rPr lang="en-US" dirty="0"/>
              <a:t>Site</a:t>
            </a:r>
          </a:p>
          <a:p>
            <a:pPr marL="285750" indent="-285750">
              <a:buFontTx/>
              <a:buChar char="-"/>
            </a:pPr>
            <a:r>
              <a:rPr lang="en-US" dirty="0"/>
              <a:t>Month</a:t>
            </a:r>
          </a:p>
          <a:p>
            <a:pPr marL="285750" indent="-285750">
              <a:buFontTx/>
              <a:buChar char="-"/>
            </a:pPr>
            <a:r>
              <a:rPr lang="en-US" dirty="0"/>
              <a:t>Year</a:t>
            </a:r>
          </a:p>
          <a:p>
            <a:pPr marL="285750" indent="-285750">
              <a:buFontTx/>
              <a:buChar char="-"/>
            </a:pPr>
            <a:r>
              <a:rPr lang="en-US" dirty="0"/>
              <a:t>Site details</a:t>
            </a:r>
          </a:p>
          <a:p>
            <a:pPr marL="285750" indent="-285750">
              <a:buFontTx/>
              <a:buChar char="-"/>
            </a:pPr>
            <a:r>
              <a:rPr lang="en-US" dirty="0"/>
              <a:t>Mean weekly rumbles per week</a:t>
            </a:r>
          </a:p>
          <a:p>
            <a:pPr marL="285750" indent="-285750">
              <a:buFontTx/>
              <a:buChar char="-"/>
            </a:pPr>
            <a:r>
              <a:rPr lang="en-US" dirty="0"/>
              <a:t>SD rumbles per week</a:t>
            </a:r>
          </a:p>
          <a:p>
            <a:pPr marL="285750" indent="-285750">
              <a:buFontTx/>
              <a:buChar char="-"/>
            </a:pPr>
            <a:r>
              <a:rPr lang="en-US" dirty="0"/>
              <a:t>Sum rumbles per month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Proportion night rumbles per week</a:t>
            </a:r>
          </a:p>
          <a:p>
            <a:pPr marL="285750" indent="-285750">
              <a:buFontTx/>
              <a:buChar char="-"/>
            </a:pPr>
            <a:r>
              <a:rPr lang="en-US" dirty="0"/>
              <a:t>Total days sampled</a:t>
            </a:r>
          </a:p>
          <a:p>
            <a:pPr marL="285750" indent="-285750">
              <a:buFontTx/>
              <a:buChar char="-"/>
            </a:pPr>
            <a:r>
              <a:rPr lang="en-US" dirty="0"/>
              <a:t>Save table and plot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884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48F64-9E85-FFC6-1E5B-63591536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C4B278-52EE-4CBF-FF13-20E7BC9CC77C}"/>
              </a:ext>
            </a:extLst>
          </p:cNvPr>
          <p:cNvSpPr txBox="1"/>
          <p:nvPr/>
        </p:nvSpPr>
        <p:spPr>
          <a:xfrm>
            <a:off x="199621" y="208793"/>
            <a:ext cx="2363273" cy="9541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Sound Check (user option not implemented yet)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Excluded (y/n)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All sounds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22730-8BA0-E846-239B-56C581BFECBB}"/>
              </a:ext>
            </a:extLst>
          </p:cNvPr>
          <p:cNvSpPr txBox="1"/>
          <p:nvPr/>
        </p:nvSpPr>
        <p:spPr>
          <a:xfrm>
            <a:off x="199621" y="1449564"/>
            <a:ext cx="2363273" cy="738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Random days (user option)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Random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Non-random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B0E41-EBFB-70D2-D356-5C2240DFF513}"/>
              </a:ext>
            </a:extLst>
          </p:cNvPr>
          <p:cNvSpPr txBox="1"/>
          <p:nvPr/>
        </p:nvSpPr>
        <p:spPr>
          <a:xfrm>
            <a:off x="154545" y="3715663"/>
            <a:ext cx="2408349" cy="11695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Selection tables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All detections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includes marginals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0+ counts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Non-rumbles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B14F5-3B3D-8E30-4A8B-6D42D21BF3AB}"/>
              </a:ext>
            </a:extLst>
          </p:cNvPr>
          <p:cNvSpPr txBox="1"/>
          <p:nvPr/>
        </p:nvSpPr>
        <p:spPr>
          <a:xfrm>
            <a:off x="154545" y="5171879"/>
            <a:ext cx="2408350" cy="13849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Zero Days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Good sound days only (bad sounds excluded)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Random days only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0 detections at score &gt;0.4.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1E5073A0-A299-0D2A-CE1F-2064048A0AD4}"/>
              </a:ext>
            </a:extLst>
          </p:cNvPr>
          <p:cNvSpPr/>
          <p:nvPr/>
        </p:nvSpPr>
        <p:spPr>
          <a:xfrm>
            <a:off x="2627290" y="639838"/>
            <a:ext cx="412118" cy="54091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3D804-1731-E3AF-962A-0DA0E90EA2E8}"/>
              </a:ext>
            </a:extLst>
          </p:cNvPr>
          <p:cNvSpPr txBox="1"/>
          <p:nvPr/>
        </p:nvSpPr>
        <p:spPr>
          <a:xfrm>
            <a:off x="154545" y="7074450"/>
            <a:ext cx="2408349" cy="738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Empty Tables</a:t>
            </a:r>
          </a:p>
          <a:p>
            <a:r>
              <a:rPr lang="en-US" sz="1400" dirty="0"/>
              <a:t>- Selection tables with 0 detections at score 0.2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67623-B742-1360-C746-391F1E163FAE}"/>
              </a:ext>
            </a:extLst>
          </p:cNvPr>
          <p:cNvSpPr txBox="1"/>
          <p:nvPr/>
        </p:nvSpPr>
        <p:spPr>
          <a:xfrm>
            <a:off x="3125271" y="582066"/>
            <a:ext cx="4320878" cy="59093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HOURLY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Site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from selection tables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Date 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every date from sound check and selection tables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Hour (0-24)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Rand/</a:t>
            </a:r>
            <a:r>
              <a:rPr lang="en-US" sz="1400" dirty="0" err="1"/>
              <a:t>nonrand</a:t>
            </a:r>
            <a:r>
              <a:rPr lang="en-US" sz="1400" dirty="0"/>
              <a:t> (optional)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From rand .txt file in </a:t>
            </a:r>
            <a:r>
              <a:rPr lang="en-US" sz="1400" dirty="0" err="1"/>
              <a:t>elpR</a:t>
            </a:r>
            <a:endParaRPr lang="en-US" sz="1400" dirty="0"/>
          </a:p>
          <a:p>
            <a:pPr marL="742950" lvl="1" indent="-285750">
              <a:buFontTx/>
              <a:buChar char="-"/>
            </a:pPr>
            <a:r>
              <a:rPr lang="en-US" sz="1400" dirty="0"/>
              <a:t>If rand needed, then non-random dates will be filtered out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Sum rumbles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Includes zero days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Does not include empty tables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Bad sound excluded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From sound check file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Deployment #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User defined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Site details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User option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From .txt file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Day/night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Day = 06:00-18:00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Night = 18:00-06:00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Week date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first date of the week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Save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1CC8F-9E9A-2DDB-E07A-973A624FBC53}"/>
              </a:ext>
            </a:extLst>
          </p:cNvPr>
          <p:cNvSpPr txBox="1"/>
          <p:nvPr/>
        </p:nvSpPr>
        <p:spPr>
          <a:xfrm>
            <a:off x="199622" y="2474892"/>
            <a:ext cx="2363272" cy="9541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Site Details (user provided)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Lat/long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Habitat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Strata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93BDF6DB-7C50-7F24-C4A1-E0BBF4D28C39}"/>
              </a:ext>
            </a:extLst>
          </p:cNvPr>
          <p:cNvSpPr/>
          <p:nvPr/>
        </p:nvSpPr>
        <p:spPr>
          <a:xfrm>
            <a:off x="7493359" y="614081"/>
            <a:ext cx="412118" cy="254124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3B8042-1FCD-CA40-E112-DB2B3E6D21EB}"/>
              </a:ext>
            </a:extLst>
          </p:cNvPr>
          <p:cNvSpPr txBox="1"/>
          <p:nvPr/>
        </p:nvSpPr>
        <p:spPr>
          <a:xfrm>
            <a:off x="7972020" y="201251"/>
            <a:ext cx="2871991" cy="33239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DAILY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Site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Date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Proportion Night Rumbles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% rumbles per night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Sum Rumbles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Sum night rumbles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Random days only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Deployment #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Site details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Week date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First date of the week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Month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Year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Save table &amp; plot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2B0E2868-E3CC-59D3-C32D-9898DC45F145}"/>
              </a:ext>
            </a:extLst>
          </p:cNvPr>
          <p:cNvSpPr/>
          <p:nvPr/>
        </p:nvSpPr>
        <p:spPr>
          <a:xfrm rot="5400000">
            <a:off x="9136859" y="2771997"/>
            <a:ext cx="272694" cy="196178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3CCE01-833D-AC8C-9ABB-6BE07501FCFA}"/>
              </a:ext>
            </a:extLst>
          </p:cNvPr>
          <p:cNvSpPr txBox="1"/>
          <p:nvPr/>
        </p:nvSpPr>
        <p:spPr>
          <a:xfrm>
            <a:off x="7957686" y="3889237"/>
            <a:ext cx="2871991" cy="27392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WEEKLY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Site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Week date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Month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Year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Site details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Mean daily rumbles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SD daily rumbles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Sum rumbles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Proportion night rumbles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Total days sampled per week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Save table &amp; plot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1222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8877</TotalTime>
  <Words>655</Words>
  <Application>Microsoft Office PowerPoint</Application>
  <PresentationFormat>Widescreen</PresentationFormat>
  <Paragraphs>213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Bobbi Jacqueline Estabrook</dc:creator>
  <cp:lastModifiedBy>Bobbi Jacqueline Estabrook</cp:lastModifiedBy>
  <cp:revision>2</cp:revision>
  <dcterms:created xsi:type="dcterms:W3CDTF">2024-11-19T20:49:36Z</dcterms:created>
  <dcterms:modified xsi:type="dcterms:W3CDTF">2024-11-27T21:51:29Z</dcterms:modified>
</cp:coreProperties>
</file>